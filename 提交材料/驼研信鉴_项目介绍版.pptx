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916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0B429"/>
                </a:solidFill>
                <a:latin typeface="微软雅黑"/>
                <a:ea typeface="微软雅黑"/>
              </a:rPr>
              <a:t>驼研 · 信鉴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  <a:ea typeface="微软雅黑"/>
              </a:rPr>
              <a:t>基于公告与财报多源结构化提取的上市公司信用风险预警智能体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9FB3C8"/>
                </a:solidFill>
                <a:latin typeface="微软雅黑"/>
                <a:ea typeface="微软雅黑"/>
              </a:rPr>
              <a:t>2026 北京市大学生金融人工智能竞赛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9FB3C8"/>
                </a:solidFill>
                <a:latin typeface="微软雅黑"/>
                <a:ea typeface="微软雅黑"/>
              </a:rPr>
              <a:t>参赛学校:________  队名:________  成员:________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55448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01  背景与痛点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02  总体方案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15468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03  选题一:公告数据结构化提取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15468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04  选题二:财报分析与信用风险预警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75488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05  实验验证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754880"/>
            <a:ext cx="4754880" cy="12344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06  创新与总结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背景:股权质押是什么,为什么重要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F0B429"/>
                </a:solidFill>
                <a:latin typeface="微软雅黑"/>
                <a:ea typeface="微软雅黑"/>
              </a:rPr>
              <a:t>什么是股权质押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大股东缺钱了,把手里的股票抵押给金融机构借钱。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按规定,每次质押/解押/展期都要发公告,写清谁质押、多少股、何时到期。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42062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E4572E"/>
                </a:solidFill>
                <a:latin typeface="微软雅黑"/>
                <a:ea typeface="微软雅黑"/>
              </a:rPr>
              <a:t>为什么要盯着它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质押比例过高,往往是公司出事的前兆。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康美药业 300 亿造假爆雷前,大股东股票早已几乎全部质押。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这些信号对银行、投资者、监管都至关重要。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痛点:要把公告用起来,有三道坎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32588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E4572E"/>
                </a:solidFill>
                <a:latin typeface="微软雅黑"/>
                <a:ea typeface="微软雅黑"/>
              </a:rPr>
              <a:t>坎一 · 公告难读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几千家公司天天发,格式千奇百怪,还有扫描图片;人工提取慢且易错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132588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E4572E"/>
                </a:solidFill>
                <a:latin typeface="微软雅黑"/>
                <a:ea typeface="微软雅黑"/>
              </a:rPr>
              <a:t>坎二 · 数字不能错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金融数据错一个数就可能误判,要求接近零容错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32588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E4572E"/>
                </a:solidFill>
                <a:latin typeface="微软雅黑"/>
                <a:ea typeface="微软雅黑"/>
              </a:rPr>
              <a:t>坎三 · 大模型会编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AI 直接读公告会编造看似合理的数字,还说不出出处——金融场景致命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总体方案:两个选题,一条数据链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4CC9F0"/>
                </a:solidFill>
                <a:latin typeface="微软雅黑"/>
                <a:ea typeface="微软雅黑"/>
              </a:rPr>
              <a:t>质押公告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4CC9F0"/>
                </a:solidFill>
                <a:latin typeface="微软雅黑"/>
                <a:ea typeface="微软雅黑"/>
              </a:rPr>
              <a:t>历年财报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0360" y="2331720"/>
            <a:ext cx="548640" cy="822960"/>
          </a:xfrm>
          <a:prstGeom prst="rightArrow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834640" cy="219456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微软雅黑"/>
                <a:ea typeface="微软雅黑"/>
              </a:rPr>
              <a:t>选题一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0B429"/>
                </a:solidFill>
                <a:latin typeface="微软雅黑"/>
                <a:ea typeface="微软雅黑"/>
              </a:rPr>
              <a:t>结构化提取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9FB3C8"/>
                </a:solidFill>
                <a:latin typeface="微软雅黑"/>
                <a:ea typeface="微软雅黑"/>
              </a:rPr>
              <a:t>谁质押/多少股/何时到期
标准 JSON 输出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537960" y="2651760"/>
            <a:ext cx="548640" cy="548640"/>
          </a:xfrm>
          <a:prstGeom prst="rightArrow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23760" y="1828800"/>
            <a:ext cx="4389120" cy="219456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微软雅黑"/>
                <a:ea typeface="微软雅黑"/>
              </a:rPr>
              <a:t>选题二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2EC4B6"/>
                </a:solidFill>
                <a:latin typeface="微软雅黑"/>
                <a:ea typeface="微软雅黑"/>
              </a:rPr>
              <a:t>信用风险预警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9FB3C8"/>
                </a:solidFill>
                <a:latin typeface="微软雅黑"/>
                <a:ea typeface="微软雅黑"/>
              </a:rPr>
              <a:t>财报红旗 R1-R7 + 公告驱动 R8/R9
红色/橙色分级预警报告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0B429"/>
                </a:solidFill>
                <a:latin typeface="微软雅黑"/>
                <a:ea typeface="微软雅黑"/>
              </a:rPr>
              <a:t>咬合点:选题一提取的质押比例与到期压力,直接成为选题二的 R8/R9 两条规则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三重把关:程序勾稽验算 + 逐字段回原文溯源 + 质疑-裁决多智能体审查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选题一(1/3):先读懂公告 —— 双通道解析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56616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4CC9F0"/>
                </a:solidFill>
                <a:latin typeface="微软雅黑"/>
                <a:ea typeface="微软雅黑"/>
              </a:rPr>
              <a:t>通道 A · 文本层 PDF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pypdf / pdfplumber 直接抽取文字与表格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微软雅黑"/>
                <a:ea typeface="微软雅黑"/>
              </a:rPr>
              <a:t>速度快、零噪声,是首选通道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356616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0B429"/>
                </a:solidFill>
                <a:latin typeface="微软雅黑"/>
                <a:ea typeface="微软雅黑"/>
              </a:rPr>
              <a:t>通道 B · 扫描件 OCR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逐页转图 → RapidOCR 识别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用行框坐标重建表格结构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微软雅黑"/>
                <a:ea typeface="微软雅黑"/>
              </a:rPr>
              <a:t>OCR 噪声字段会被溯源机制显式标记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EC4B6"/>
                </a:solidFill>
                <a:latin typeface="微软雅黑"/>
                <a:ea typeface="微软雅黑"/>
              </a:rPr>
              <a:t>实测:文本件 12/12 校验通过;扫描件 12/12 通过、溯源覆盖率 86%(噪声字段全部正确标记)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选题一(2/3):AI 提取 + 校验-重试闭环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173736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0B429"/>
                </a:solidFill>
                <a:latin typeface="微软雅黑"/>
                <a:ea typeface="微软雅黑"/>
              </a:rPr>
              <a:t>LLM 提取</a:t>
            </a:r>
          </a:p>
          <a:p>
            <a:pPr algn="ctr">
              <a:spcAft>
                <a:spcPts val="400"/>
              </a:spcAft>
            </a:pPr>
            <a:r>
              <a:rPr sz="1350" b="0">
                <a:solidFill>
                  <a:srgbClr val="9FB3C8"/>
                </a:solidFill>
                <a:latin typeface="微软雅黑"/>
                <a:ea typeface="微软雅黑"/>
              </a:rPr>
              <a:t>按 Schema 出 JSON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78327" y="2148840"/>
            <a:ext cx="365760" cy="365760"/>
          </a:xfrm>
          <a:prstGeom prst="rightArrow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89807" y="173736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0B429"/>
                </a:solidFill>
                <a:latin typeface="微软雅黑"/>
                <a:ea typeface="微软雅黑"/>
              </a:rPr>
              <a:t>程序校验</a:t>
            </a:r>
          </a:p>
          <a:p>
            <a:pPr algn="ctr">
              <a:spcAft>
                <a:spcPts val="400"/>
              </a:spcAft>
            </a:pPr>
            <a:r>
              <a:rPr sz="1350" b="0">
                <a:solidFill>
                  <a:srgbClr val="9FB3C8"/>
                </a:solidFill>
                <a:latin typeface="微软雅黑"/>
                <a:ea typeface="微软雅黑"/>
              </a:rPr>
              <a:t>7 项勾稽验算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12967" y="2148840"/>
            <a:ext cx="365760" cy="365760"/>
          </a:xfrm>
          <a:prstGeom prst="rightArrow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24447" y="173736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0B429"/>
                </a:solidFill>
                <a:latin typeface="微软雅黑"/>
                <a:ea typeface="微软雅黑"/>
              </a:rPr>
              <a:t>不过审?</a:t>
            </a:r>
          </a:p>
          <a:p>
            <a:pPr algn="ctr">
              <a:spcAft>
                <a:spcPts val="400"/>
              </a:spcAft>
            </a:pPr>
            <a:r>
              <a:rPr sz="1350" b="0">
                <a:solidFill>
                  <a:srgbClr val="9FB3C8"/>
                </a:solidFill>
                <a:latin typeface="微软雅黑"/>
                <a:ea typeface="微软雅黑"/>
              </a:rPr>
              <a:t>问题清单回灌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47607" y="2148840"/>
            <a:ext cx="365760" cy="365760"/>
          </a:xfrm>
          <a:prstGeom prst="rightArrow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59087" y="173736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0B429"/>
                </a:solidFill>
                <a:latin typeface="微软雅黑"/>
                <a:ea typeface="微软雅黑"/>
              </a:rPr>
              <a:t>打回重做</a:t>
            </a:r>
          </a:p>
          <a:p>
            <a:pPr algn="ctr">
              <a:spcAft>
                <a:spcPts val="400"/>
              </a:spcAft>
            </a:pPr>
            <a:r>
              <a:rPr sz="1350" b="0">
                <a:solidFill>
                  <a:srgbClr val="9FB3C8"/>
                </a:solidFill>
                <a:latin typeface="微软雅黑"/>
                <a:ea typeface="微软雅黑"/>
              </a:rPr>
              <a:t>最多 3 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06984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7 项校验:完整性 / 累计勾稽 / 占其所持 / 占总股本 / 风险提示勾稽 / 表格合计行 / 原文溯源覆盖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F0B429"/>
                </a:solidFill>
                <a:latin typeface="微软雅黑"/>
                <a:ea typeface="微软雅黑"/>
              </a:rPr>
              <a:t>原则:程序是会计,AI 是解说员 —— 数字对不对,程序说了算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EC4B6"/>
                </a:solidFill>
                <a:latin typeface="微软雅黑"/>
                <a:ea typeface="微软雅黑"/>
              </a:rPr>
              <a:t>实测:30 份未见公告 100% 跑通,校验项通过率 93.5%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选题一(3/3):质疑-裁决多智能体审查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提取员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FB3C8"/>
                </a:solidFill>
                <a:latin typeface="微软雅黑"/>
                <a:ea typeface="微软雅黑"/>
              </a:rPr>
              <a:t>DeepSeek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读公告、提字段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55448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0B429"/>
                </a:solidFill>
                <a:latin typeface="微软雅黑"/>
                <a:ea typeface="微软雅黑"/>
              </a:rPr>
              <a:t>质疑员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FB3C8"/>
                </a:solidFill>
                <a:latin typeface="微软雅黑"/>
                <a:ea typeface="微软雅黑"/>
              </a:rPr>
              <a:t>Kimi(异构模型)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只许挑毛病,质疑须引用原文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55448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EC4B6"/>
                </a:solidFill>
                <a:latin typeface="微软雅黑"/>
                <a:ea typeface="微软雅黑"/>
              </a:rPr>
              <a:t>裁决员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FB3C8"/>
                </a:solidFill>
                <a:latin typeface="微软雅黑"/>
                <a:ea typeface="微软雅黑"/>
              </a:rPr>
              <a:t>DeepSeek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回原文亲自核对:成立→修正,不成立→驳回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6984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四道防线:质疑可能编证据→裁决员不得偏信;裁决引用的原文由程序核验真实存在;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修正只能落在数据字段白名单;修正后自动重跑勾稽与溯源。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0B429"/>
                </a:solidFill>
                <a:latin typeface="微软雅黑"/>
                <a:ea typeface="微软雅黑"/>
              </a:rPr>
              <a:t>实战案例:惠发食品公告自身表格与文字口径矛盾(1570万-3500万+3600万≠5170万),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0B429"/>
                </a:solidFill>
                <a:latin typeface="微软雅黑"/>
                <a:ea typeface="微软雅黑"/>
              </a:rPr>
              <a:t>三层机制合力发现“公告印错了”;对正确样本零质疑、零误报。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选题二(1/2):财报数据 —— 双源采集与“代码算数”铁律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84048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4CC9F0"/>
                </a:solidFill>
                <a:latin typeface="微软雅黑"/>
                <a:ea typeface="微软雅黑"/>
              </a:rPr>
              <a:t>双源采集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akshare 同时取同花顺摘要与新浪指标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两源交叉印证,留痕落盘可复核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微软雅黑"/>
                <a:ea typeface="微软雅黑"/>
              </a:rPr>
              <a:t>原始 CSV 网页上直接可查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384048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EC4B6"/>
                </a:solidFill>
                <a:latin typeface="微软雅黑"/>
                <a:ea typeface="微软雅黑"/>
              </a:rPr>
              <a:t>代码算数铁律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所有指标由代码对落盘数据计算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LLM 只负责解释,从不口算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微软雅黑"/>
                <a:ea typeface="微软雅黑"/>
              </a:rPr>
              <a:t>银行业口径特殊:R1/R6/R7 自动豁免,避免误报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选题二(2/2):九条红旗规则,条条有出处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698480" cy="10058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R1 利润与现金流背离 / R2 非经常性损益异常 / R7 利润含金量不足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F0B429"/>
                </a:solidFill>
                <a:latin typeface="微软雅黑"/>
                <a:ea typeface="微软雅黑"/>
              </a:rPr>
              <a:t>盈利质量:应计异象  |  Sloan 1996;O'glove 1987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0698480" cy="10058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R3 营收与利润背离 / R4 业绩变脸 / R5 持续亏损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F0B429"/>
                </a:solidFill>
                <a:latin typeface="微软雅黑"/>
                <a:ea typeface="微软雅黑"/>
              </a:rPr>
              <a:t>财务造假识别  |  Beneish 1999;Dechow 2011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10698480" cy="10058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R6 高杠杆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F0B429"/>
                </a:solidFill>
                <a:latin typeface="微软雅黑"/>
                <a:ea typeface="微软雅黑"/>
              </a:rPr>
              <a:t>破产风险度量  |  Altman 1968;Ohlson 1980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698480" cy="1005840"/>
          </a:xfrm>
          <a:prstGeom prst="roundRect">
            <a:avLst>
              <a:gd name="adj" fmla="val 8000"/>
            </a:avLst>
          </a:prstGeom>
          <a:solidFill>
            <a:srgbClr val="1B355C"/>
          </a:solidFill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R8 股东高比例质押 / R9 质押到期压力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F0B429"/>
                </a:solidFill>
                <a:latin typeface="微软雅黑"/>
                <a:ea typeface="微软雅黑"/>
              </a:rPr>
              <a:t>股权质押地雷  |  谢德仁等 2016《管理世界》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3C8"/>
                </a:solidFill>
                <a:latin typeface="微软雅黑"/>
                <a:ea typeface="微软雅黑"/>
              </a:rPr>
              <a:t>金色行由选题一公告提取结果直接驱动 —— 文献支撑 + 数据联动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实验设置:真公告、真财报、可复现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· 评测集:30 份 2026 年 6-9 月巨潮资讯网真实公告,系统从未见过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· 预警案例:康美药业(爆雷回溯)、贵州茅台(健康对照)、贵阳银行(行业豁免)、三湘印象(质押联动)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· 模型:DeepSeek(temperature=0,可复现)+ Kimi(异构审查),均为国产模型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· 消融对照:同一批公告跑“纯规则路径”,量化 AI+校验组合的贡献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0B429"/>
                </a:solidFill>
                <a:latin typeface="微软雅黑"/>
                <a:ea typeface="微软雅黑"/>
              </a:rPr>
              <a:t>· 全部数据、日志、审查卷宗随代码包开放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实验结果:30 份盲测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3707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3800" b="1">
                <a:solidFill>
                  <a:srgbClr val="2EC4B6"/>
                </a:solidFill>
                <a:latin typeface="微软雅黑"/>
                <a:ea typeface="微软雅黑"/>
              </a:rPr>
              <a:t>100%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跑通率
30/30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9787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3800" b="1">
                <a:solidFill>
                  <a:srgbClr val="F0B429"/>
                </a:solidFill>
                <a:latin typeface="微软雅黑"/>
                <a:ea typeface="微软雅黑"/>
              </a:rPr>
              <a:t>93.5%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校验项通过率
217/232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5867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3800" b="1">
                <a:solidFill>
                  <a:srgbClr val="4CC9F0"/>
                </a:solidFill>
                <a:latin typeface="微软雅黑"/>
                <a:ea typeface="微软雅黑"/>
              </a:rPr>
              <a:t>91.5%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平均溯源覆盖率
14 份达 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1947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3800" b="1">
                <a:solidFill>
                  <a:srgbClr val="2EC4B6"/>
                </a:solidFill>
                <a:latin typeface="微软雅黑"/>
                <a:ea typeface="微软雅黑"/>
              </a:rPr>
              <a:t>1.67 条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平均每份提取记录
纯规则仅 0.40 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0B429"/>
                </a:solidFill>
                <a:latin typeface="微软雅黑"/>
                <a:ea typeface="微软雅黑"/>
              </a:rPr>
              <a:t>文档级全过:本系统 18/30(60%),纯规则 6/30(20%)—— AI+校验,缺一不可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消融结论:LLM 提供召回主体,校验-重试与三层校验保证正确性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回溯验证:康美药业提前 1-2 年报警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5156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0B429"/>
                </a:solidFill>
                <a:latin typeface="微软雅黑"/>
                <a:ea typeface="微软雅黑"/>
              </a:rPr>
              <a:t>2017 年报  |  R2 非经常性损益异常  |  早约 1 年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净利润 21.50 亿 vs 扣非 40.28 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105156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0B429"/>
                </a:solidFill>
                <a:latin typeface="微软雅黑"/>
                <a:ea typeface="微软雅黑"/>
              </a:rPr>
              <a:t>2018 年报  |  R1 利润与现金流背离  |  早约 1 年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净利润 +3.74 亿,每股经营现金流 -0.64 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105156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0B429"/>
                </a:solidFill>
                <a:latin typeface="微软雅黑"/>
                <a:ea typeface="微软雅黑"/>
              </a:rPr>
              <a:t>2018 年报  |  R4 业绩变脸  |  早约 1 年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净利润同比 -83%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EC4B6"/>
                </a:solidFill>
                <a:latin typeface="微软雅黑"/>
                <a:ea typeface="微软雅黑"/>
              </a:rPr>
              <a:t>对照:贵州茅台等健康公司零误报;贵阳银行自动适用行业豁免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创新点:站在冠军方案的肩膀上,再进一步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3C8"/>
                </a:solidFill>
                <a:latin typeface="微软雅黑"/>
                <a:ea typeface="微软雅黑"/>
              </a:rPr>
              <a:t>借鉴 AFAC2025 冠军项目 FinSight(人大 NLPIR)的批评循环与留痕思想,针对“提取+预警”场景做了适配性创新: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98480" cy="841248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0B429"/>
                </a:solidFill>
                <a:latin typeface="微软雅黑"/>
                <a:ea typeface="微软雅黑"/>
              </a:rPr>
              <a:t>质疑-裁决审数据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微软雅黑"/>
                <a:ea typeface="微软雅黑"/>
              </a:rPr>
              <a:t>把 FinSight 的“VLM 审图”搬到“审数据字段”;异构模型质疑、程序核验引用真实性、修正白名单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841248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0B429"/>
                </a:solidFill>
                <a:latin typeface="微软雅黑"/>
                <a:ea typeface="微软雅黑"/>
              </a:rPr>
              <a:t>溯源覆盖率指标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微软雅黑"/>
                <a:ea typeface="微软雅黑"/>
              </a:rPr>
              <a:t>不止标来源,而是每个字段值回原文逐页搜索,找不到显式标记“未溯源”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10698480" cy="841248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0B429"/>
                </a:solidFill>
                <a:latin typeface="微软雅黑"/>
                <a:ea typeface="微软雅黑"/>
              </a:rPr>
              <a:t>代码算数铁律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微软雅黑"/>
                <a:ea typeface="微软雅黑"/>
              </a:rPr>
              <a:t>比 CAVM 更极端:完全不让 LLM 碰计算,程序套公式、AI 只解释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698480" cy="841248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0B429"/>
                </a:solidFill>
                <a:latin typeface="微软雅黑"/>
                <a:ea typeface="微软雅黑"/>
              </a:rPr>
              <a:t>双选题咬合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微软雅黑"/>
                <a:ea typeface="微软雅黑"/>
              </a:rPr>
              <a:t>选题一的提取结果直接驱动选题二 R8/R9,一条数据链贯通两个赛题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总结:能力 + 纪律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微软雅黑"/>
                <a:ea typeface="微软雅黑"/>
              </a:rPr>
              <a:t>提取得准 —— 30 份盲测校验项通过率 93.5%,溯源覆盖率 91.5%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微软雅黑"/>
                <a:ea typeface="微软雅黑"/>
              </a:rPr>
              <a:t>审得出来 —— 程序勾稽与多智能体合力发现公告自身的数据矛盾,正确样本零误报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微软雅黑"/>
                <a:ea typeface="微软雅黑"/>
              </a:rPr>
              <a:t>报得够早 —— 康美药业红色预警比爆雷早约 1-2 年,健康公司零误报</a:t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F0B429"/>
                </a:solidFill>
                <a:latin typeface="微软雅黑"/>
                <a:ea typeface="微软雅黑"/>
              </a:rPr>
              <a:t>把大模型的能力,约束在金融场景要求的严谨性之内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28016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0B429"/>
                </a:solidFill>
                <a:latin typeface="微软雅黑"/>
                <a:ea typeface="微软雅黑"/>
              </a:rPr>
              <a:t>公告进,预警出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3774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</a:rPr>
              <a:t>在线演示,欢迎亲手体验</a:t>
            </a:r>
          </a:p>
        </p:txBody>
      </p:sp>
      <p:pic>
        <p:nvPicPr>
          <p:cNvPr id="6" name="Picture 5" descr="演示二维码_扫码在线体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7" y="2926080"/>
            <a:ext cx="1737360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3C8"/>
                </a:solidFill>
                <a:latin typeface="微软雅黑"/>
                <a:ea typeface="微软雅黑"/>
              </a:rPr>
              <a:t>https://ai-competition-sziwvynrh9y4cmqqu3h3fu.streamlit.app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FB3C8"/>
                </a:solidFill>
                <a:latin typeface="微软雅黑"/>
                <a:ea typeface="微软雅黑"/>
              </a:rPr>
              <a:t>恳请各位评委老师批评指正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