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600" b="1">
                <a:solidFill>
                  <a:srgbClr val="F0B429"/>
                </a:solidFill>
                <a:latin typeface="微软雅黑"/>
                <a:ea typeface="微软雅黑"/>
              </a:rPr>
              <a:t>驼研 · 信鉴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  <a:ea typeface="微软雅黑"/>
              </a:rPr>
              <a:t>基于公告与财报多源结构化提取的上市公司信用风险预警智能体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690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9FB3C8"/>
                </a:solidFill>
                <a:latin typeface="微软雅黑"/>
                <a:ea typeface="微软雅黑"/>
              </a:rPr>
              <a:t>2026 北京市大学生金融人工智能竞赛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4937760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41848" y="4937760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9048" y="4937760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advTm="7000"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三个现实难题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29000" cy="292608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E4572E"/>
                </a:solidFill>
                <a:latin typeface="微软雅黑"/>
                <a:ea typeface="微软雅黑"/>
              </a:rPr>
              <a:t>爆雷频发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大股东高比例质押
是埋在股价下的地雷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429000" cy="292608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0B429"/>
                </a:solidFill>
                <a:latin typeface="微软雅黑"/>
                <a:ea typeface="微软雅黑"/>
              </a:rPr>
              <a:t>公告海量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数千家公司天天发公告
格式各异,人工读不过来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011680"/>
            <a:ext cx="3429000" cy="292608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4CC9F0"/>
                </a:solidFill>
                <a:latin typeface="微软雅黑"/>
                <a:ea typeface="微软雅黑"/>
              </a:rPr>
              <a:t>AI 会编数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直接问大模型
它可能一本正经地编数字</a:t>
            </a:r>
          </a:p>
        </p:txBody>
      </p:sp>
    </p:spTree>
  </p:cSld>
  <p:clrMapOvr>
    <a:masterClrMapping/>
  </p:clrMapOvr>
  <p:transition advClick="0" advTm="10000"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916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200" b="1">
                <a:solidFill>
                  <a:srgbClr val="E4572E"/>
                </a:solidFill>
                <a:latin typeface="微软雅黑"/>
                <a:ea typeface="微软雅黑"/>
              </a:rPr>
              <a:t>300 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10896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康美药业造假爆雷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977639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900" b="0">
                <a:solidFill>
                  <a:srgbClr val="9FB3C8"/>
                </a:solidFill>
                <a:latin typeface="微软雅黑"/>
                <a:ea typeface="微软雅黑"/>
              </a:rPr>
              <a:t>爆雷前,大股东的股票早已几乎全部质押</a:t>
            </a:r>
          </a:p>
          <a:p>
            <a:pPr algn="ctr">
              <a:spcAft>
                <a:spcPts val="600"/>
              </a:spcAft>
            </a:pPr>
            <a:r>
              <a:rPr sz="1900" b="0">
                <a:solidFill>
                  <a:srgbClr val="F0B429"/>
                </a:solidFill>
                <a:latin typeface="微软雅黑"/>
                <a:ea typeface="微软雅黑"/>
              </a:rPr>
              <a:t>—— 信号就写在公告里,只是没人读得完</a:t>
            </a:r>
          </a:p>
        </p:txBody>
      </p:sp>
    </p:spTree>
  </p:cSld>
  <p:clrMapOvr>
    <a:masterClrMapping/>
  </p:clrMapOvr>
  <p:transition advClick="0" advTm="9000"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驼研·信鉴:公告进,预警出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4CC9F0"/>
                </a:solidFill>
                <a:latin typeface="微软雅黑"/>
                <a:ea typeface="微软雅黑"/>
              </a:rPr>
              <a:t>质押公告 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9748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4CC9F0"/>
                </a:solidFill>
                <a:latin typeface="微软雅黑"/>
                <a:ea typeface="微软雅黑"/>
              </a:rPr>
              <a:t>历年财报数据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42032" y="2761488"/>
            <a:ext cx="502920" cy="384048"/>
          </a:xfrm>
          <a:prstGeom prst="rightArrow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54680" y="2103120"/>
            <a:ext cx="1965960" cy="155448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F0B429"/>
                </a:solidFill>
                <a:latin typeface="微软雅黑"/>
                <a:ea typeface="微软雅黑"/>
              </a:rPr>
              <a:t>结构化提取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9FB3C8"/>
                </a:solidFill>
                <a:latin typeface="微软雅黑"/>
                <a:ea typeface="微软雅黑"/>
              </a:rPr>
              <a:t>LLM + 校验重试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93792" y="2761488"/>
            <a:ext cx="502920" cy="384048"/>
          </a:xfrm>
          <a:prstGeom prst="rightArrow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06440" y="2103120"/>
            <a:ext cx="1965960" cy="155448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F0B429"/>
                </a:solidFill>
                <a:latin typeface="微软雅黑"/>
                <a:ea typeface="微软雅黑"/>
              </a:rPr>
              <a:t>程序勾稽验算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9FB3C8"/>
                </a:solidFill>
                <a:latin typeface="微软雅黑"/>
                <a:ea typeface="微软雅黑"/>
              </a:rPr>
              <a:t>错就自动打回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5552" y="2761488"/>
            <a:ext cx="502920" cy="384048"/>
          </a:xfrm>
          <a:prstGeom prst="rightArrow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58200" y="2103120"/>
            <a:ext cx="1965960" cy="155448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2EC4B6"/>
                </a:solidFill>
                <a:latin typeface="微软雅黑"/>
                <a:ea typeface="微软雅黑"/>
              </a:rPr>
              <a:t>信用风险预警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9FB3C8"/>
                </a:solidFill>
                <a:latin typeface="微软雅黑"/>
                <a:ea typeface="微软雅黑"/>
              </a:rPr>
              <a:t>红旗规则 R1-R9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9FB3C8"/>
                </a:solidFill>
                <a:latin typeface="微软雅黑"/>
                <a:ea typeface="微软雅黑"/>
              </a:rPr>
              <a:t>全程留痕 · 每个字段都能找回公告原文出处</a:t>
            </a:r>
          </a:p>
        </p:txBody>
      </p:sp>
    </p:spTree>
  </p:cSld>
  <p:clrMapOvr>
    <a:masterClrMapping/>
  </p:clrMapOvr>
  <p:transition advClick="0" advTm="10000"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选题一 | 公告数据结构化提取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447" y="2148840"/>
            <a:ext cx="1938528" cy="14630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双通道解析</a:t>
            </a:r>
          </a:p>
          <a:p>
            <a:pPr algn="ctr">
              <a:spcAft>
                <a:spcPts val="400"/>
              </a:spcAft>
            </a:pPr>
            <a:r>
              <a:rPr sz="1250" b="0">
                <a:solidFill>
                  <a:srgbClr val="9FB3C8"/>
                </a:solidFill>
                <a:latin typeface="微软雅黑"/>
                <a:ea typeface="微软雅黑"/>
              </a:rPr>
              <a:t>文本层PDF
扫描件OCR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6263" y="2697480"/>
            <a:ext cx="292608" cy="329184"/>
          </a:xfrm>
          <a:prstGeom prst="rightArrow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68015" y="2148840"/>
            <a:ext cx="1938528" cy="14630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LLM 提取</a:t>
            </a:r>
          </a:p>
          <a:p>
            <a:pPr algn="ctr">
              <a:spcAft>
                <a:spcPts val="400"/>
              </a:spcAft>
            </a:pPr>
            <a:r>
              <a:rPr sz="1250" b="0">
                <a:solidFill>
                  <a:srgbClr val="9FB3C8"/>
                </a:solidFill>
                <a:latin typeface="微软雅黑"/>
                <a:ea typeface="微软雅黑"/>
              </a:rPr>
              <a:t>按标准Schema
输出JSON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24831" y="2697480"/>
            <a:ext cx="292608" cy="329184"/>
          </a:xfrm>
          <a:prstGeom prst="rightArrow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6583" y="2148840"/>
            <a:ext cx="1938528" cy="14630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0B429"/>
                </a:solidFill>
                <a:latin typeface="微软雅黑"/>
                <a:ea typeface="微软雅黑"/>
              </a:rPr>
              <a:t>校验-重试</a:t>
            </a:r>
          </a:p>
          <a:p>
            <a:pPr algn="ctr">
              <a:spcAft>
                <a:spcPts val="400"/>
              </a:spcAft>
            </a:pPr>
            <a:r>
              <a:rPr sz="1250" b="0">
                <a:solidFill>
                  <a:srgbClr val="9FB3C8"/>
                </a:solidFill>
                <a:latin typeface="微软雅黑"/>
                <a:ea typeface="微软雅黑"/>
              </a:rPr>
              <a:t>程序验算不过
自动打回≤3轮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3399" y="2697480"/>
            <a:ext cx="292608" cy="329184"/>
          </a:xfrm>
          <a:prstGeom prst="rightArrow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85151" y="2148840"/>
            <a:ext cx="1938528" cy="14630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0B429"/>
                </a:solidFill>
                <a:latin typeface="微软雅黑"/>
                <a:ea typeface="微软雅黑"/>
              </a:rPr>
              <a:t>质疑-裁决</a:t>
            </a:r>
          </a:p>
          <a:p>
            <a:pPr algn="ctr">
              <a:spcAft>
                <a:spcPts val="400"/>
              </a:spcAft>
            </a:pPr>
            <a:r>
              <a:rPr sz="1250" b="0">
                <a:solidFill>
                  <a:srgbClr val="9FB3C8"/>
                </a:solidFill>
                <a:latin typeface="微软雅黑"/>
                <a:ea typeface="微软雅黑"/>
              </a:rPr>
              <a:t>两个AI
回原文互相监督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41967" y="2697480"/>
            <a:ext cx="292608" cy="329184"/>
          </a:xfrm>
          <a:prstGeom prst="rightArrow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43719" y="2148840"/>
            <a:ext cx="1938528" cy="146304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标准 JSON</a:t>
            </a:r>
          </a:p>
          <a:p>
            <a:pPr algn="ctr">
              <a:spcAft>
                <a:spcPts val="400"/>
              </a:spcAft>
            </a:pPr>
            <a:r>
              <a:rPr sz="1250" b="0">
                <a:solidFill>
                  <a:srgbClr val="9FB3C8"/>
                </a:solidFill>
                <a:latin typeface="微软雅黑"/>
                <a:ea typeface="微软雅黑"/>
              </a:rPr>
              <a:t>12/12校验
逐字段溯源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4114800"/>
            <a:ext cx="121916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提取员干活 · 质疑员挑刺 · 裁决员拍板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2EC4B6"/>
                </a:solidFill>
                <a:latin typeface="微软雅黑"/>
                <a:ea typeface="微软雅黑"/>
              </a:rPr>
              <a:t>实测合力发现过“公告自己印错了”的数据矛盾</a:t>
            </a:r>
          </a:p>
        </p:txBody>
      </p:sp>
    </p:spTree>
  </p:cSld>
  <p:clrMapOvr>
    <a:masterClrMapping/>
  </p:clrMapOvr>
  <p:transition advClick="0" advTm="11000"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选题二 | 财报分析 · 九条红旗规则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9155" y="141732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R1  利润与现金流背离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5627" y="141732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R2  非经常性损益异常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2099" y="141732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R3  营收与利润背离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9155" y="2816352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R4  业绩变脸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5627" y="2816352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R5  持续亏损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2099" y="2816352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R6  高杠杆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9155" y="4215384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R7  利润含金量不足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5627" y="4215384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1B355C"/>
          </a:solidFill>
          <a:ln w="190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0B429"/>
                </a:solidFill>
                <a:latin typeface="微软雅黑"/>
                <a:ea typeface="微软雅黑"/>
              </a:rPr>
              <a:t>R8  股东高比例质押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2099" y="4215384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1B355C"/>
          </a:solidFill>
          <a:ln w="190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0B429"/>
                </a:solidFill>
                <a:latin typeface="微软雅黑"/>
                <a:ea typeface="微软雅黑"/>
              </a:rPr>
              <a:t>R9  质押到期压力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623560"/>
            <a:ext cx="121916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9FB3C8"/>
                </a:solidFill>
                <a:latin typeface="微软雅黑"/>
                <a:ea typeface="微软雅黑"/>
              </a:rPr>
              <a:t>规则源自 Sloan 1996 · Beneish 1999 · Altman 1968 · 谢德仁等 2016 等经典研究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F0B429"/>
                </a:solidFill>
                <a:latin typeface="微软雅黑"/>
                <a:ea typeface="微软雅黑"/>
              </a:rPr>
              <a:t>金色 R8 / R9 由选题一的公告提取结果直接驱动 —— 两个选题的咬合点</a:t>
            </a:r>
          </a:p>
        </p:txBody>
      </p:sp>
    </p:spTree>
  </p:cSld>
  <p:clrMapOvr>
    <a:masterClrMapping/>
  </p:clrMapOvr>
  <p:transition advClick="0" advTm="11000"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为什么敢信它的输出?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</a:pPr>
            <a:r>
              <a:rPr sz="2400" b="1">
                <a:solidFill>
                  <a:srgbClr val="2EC4B6"/>
                </a:solidFill>
                <a:latin typeface="微软雅黑"/>
                <a:ea typeface="微软雅黑"/>
              </a:rPr>
              <a:t>程序算数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公式全部由代码计算
AI 只解释,不碰数字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</a:pPr>
            <a:r>
              <a:rPr sz="2400" b="1">
                <a:solidFill>
                  <a:srgbClr val="4CC9F0"/>
                </a:solidFill>
                <a:latin typeface="微软雅黑"/>
                <a:ea typeface="微软雅黑"/>
              </a:rPr>
              <a:t>双源印证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同花顺 × 新浪
交叉核对,留痕落盘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01168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</a:pPr>
            <a:r>
              <a:rPr sz="2400" b="1">
                <a:solidFill>
                  <a:srgbClr val="F0B429"/>
                </a:solidFill>
                <a:latin typeface="微软雅黑"/>
                <a:ea typeface="微软雅黑"/>
              </a:rPr>
              <a:t>全程留痕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每步可追溯
幻觉字段无处遁形</a:t>
            </a:r>
          </a:p>
        </p:txBody>
      </p:sp>
    </p:spTree>
  </p:cSld>
  <p:clrMapOvr>
    <a:masterClrMapping/>
  </p:clrMapOvr>
  <p:transition advClick="0" advTm="9000"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30 份未见公告 · 盲测数字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3707" y="2103120"/>
            <a:ext cx="2606040" cy="265176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2EC4B6"/>
                </a:solidFill>
                <a:latin typeface="微软雅黑"/>
                <a:ea typeface="微软雅黑"/>
              </a:rPr>
              <a:t>100%</a:t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跑通率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9787" y="2103120"/>
            <a:ext cx="2606040" cy="265176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F0B429"/>
                </a:solidFill>
                <a:latin typeface="微软雅黑"/>
                <a:ea typeface="微软雅黑"/>
              </a:rPr>
              <a:t>93.5%</a:t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校验项通过率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5867" y="2103120"/>
            <a:ext cx="2606040" cy="265176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4CC9F0"/>
                </a:solidFill>
                <a:latin typeface="微软雅黑"/>
                <a:ea typeface="微软雅黑"/>
              </a:rPr>
              <a:t>91.5%</a:t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字段溯源覆盖率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1947" y="2103120"/>
            <a:ext cx="2606040" cy="265176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2EC4B6"/>
                </a:solidFill>
                <a:latin typeface="微软雅黑"/>
                <a:ea typeface="微软雅黑"/>
              </a:rPr>
              <a:t>3 倍</a:t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文档级全过率
纯规则 20% → 本系统 60%</a:t>
            </a:r>
          </a:p>
        </p:txBody>
      </p:sp>
    </p:spTree>
  </p:cSld>
  <p:clrMapOvr>
    <a:masterClrMapping/>
  </p:clrMapOvr>
  <p:transition advClick="0" advTm="9000"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回到爆雷之前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228600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0B429"/>
                </a:solidFill>
                <a:latin typeface="微软雅黑"/>
                <a:ea typeface="微软雅黑"/>
              </a:rPr>
              <a:t>2017 年报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R2 首次报警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672687" y="2743200"/>
            <a:ext cx="822960" cy="365760"/>
          </a:xfrm>
          <a:prstGeom prst="rightArrow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87087" y="228600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E4572E"/>
                </a:solidFill>
                <a:latin typeface="微软雅黑"/>
                <a:ea typeface="微软雅黑"/>
              </a:rPr>
              <a:t>2018 年报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R1 / R4 连续报警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696047" y="2743200"/>
            <a:ext cx="822960" cy="365760"/>
          </a:xfrm>
          <a:prstGeom prst="rightArrow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10447" y="228600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19050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9FB3C8"/>
                </a:solidFill>
                <a:latin typeface="微软雅黑"/>
                <a:ea typeface="微软雅黑"/>
              </a:rPr>
              <a:t>2019.4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造假曝光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29768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0B429"/>
                </a:solidFill>
                <a:latin typeface="微软雅黑"/>
                <a:ea typeface="微软雅黑"/>
              </a:rPr>
              <a:t>红色预警比爆雷早约 1-2 年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EC4B6"/>
                </a:solidFill>
                <a:latin typeface="微软雅黑"/>
                <a:ea typeface="微软雅黑"/>
              </a:rPr>
              <a:t>贵州茅台等健康公司:零误报</a:t>
            </a:r>
          </a:p>
        </p:txBody>
      </p:sp>
    </p:spTree>
  </p:cSld>
  <p:clrMapOvr>
    <a:masterClrMapping/>
  </p:clrMapOvr>
  <p:transition advClick="0" advTm="8000"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0B429"/>
                </a:solidFill>
                <a:latin typeface="微软雅黑"/>
                <a:ea typeface="微软雅黑"/>
              </a:rPr>
              <a:t>公告进,预警出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微软雅黑"/>
                <a:ea typeface="微软雅黑"/>
              </a:rPr>
              <a:t>在线演示 · 扫码亲手体验</a:t>
            </a:r>
          </a:p>
        </p:txBody>
      </p:sp>
      <p:pic>
        <p:nvPicPr>
          <p:cNvPr id="6" name="Picture 5" descr="演示二维码_扫码在线体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167" y="2834640"/>
            <a:ext cx="1737360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4709160"/>
            <a:ext cx="121916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FB3C8"/>
                </a:solidFill>
                <a:latin typeface="微软雅黑"/>
                <a:ea typeface="微软雅黑"/>
              </a:rPr>
              <a:t>https://ai-competition-sziwvynrh9y4cmqqu3h3fu.streamlit.app</a:t>
            </a:r>
          </a:p>
        </p:txBody>
      </p:sp>
    </p:spTree>
  </p:cSld>
  <p:clrMapOvr>
    <a:masterClrMapping/>
  </p:clrMapOvr>
  <p:transition advClick="0" advTm="6000"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